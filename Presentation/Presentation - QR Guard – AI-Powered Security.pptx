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enor Sans" charset="1" panose="02000000000000000000"/>
      <p:regular r:id="rId19"/>
    </p:embeddedFont>
    <p:embeddedFont>
      <p:font typeface="Clear Sans" charset="1" panose="020B0503030202020304"/>
      <p:regular r:id="rId20"/>
    </p:embeddedFont>
    <p:embeddedFont>
      <p:font typeface="Canva Sans Bold" charset="1" panose="020B0803030501040103"/>
      <p:regular r:id="rId21"/>
    </p:embeddedFont>
    <p:embeddedFont>
      <p:font typeface="Clear Sans Medium" charset="1" panose="020B0603030202020304"/>
      <p:regular r:id="rId22"/>
    </p:embeddedFont>
    <p:embeddedFont>
      <p:font typeface="Canva Sans" charset="1" panose="020B0503030501040103"/>
      <p:regular r:id="rId23"/>
    </p:embeddedFont>
    <p:embeddedFont>
      <p:font typeface="Clear Sans Bold" charset="1" panose="020B0803030202020304"/>
      <p:regular r:id="rId24"/>
    </p:embeddedFont>
    <p:embeddedFont>
      <p:font typeface="Open Sauce Medium" charset="1" panose="000006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895613"/>
            <a:ext cx="9763125" cy="5171939"/>
            <a:chOff x="0" y="0"/>
            <a:chExt cx="13017500" cy="68959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3017500" cy="549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00"/>
                </a:lnSpc>
              </a:pPr>
              <a:r>
                <a:rPr lang="en-US" sz="10500" spc="-210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QR Guard – AI-Powered Security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199644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MOBILECOMPUTING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82808" t="46" r="-82808" b="-524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-768648" y="8446770"/>
            <a:ext cx="940308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4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upervised by:Eng.Rania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15384" y="1332291"/>
            <a:ext cx="14458496" cy="7554759"/>
            <a:chOff x="0" y="0"/>
            <a:chExt cx="19277995" cy="1007301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84421" y="0"/>
              <a:ext cx="18993573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Growing Threat of Phishing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195375"/>
              <a:ext cx="13017500" cy="751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34056" indent="-367028" lvl="1">
                <a:lnSpc>
                  <a:spcPts val="4759"/>
                </a:lnSpc>
                <a:buFont typeface="Arial"/>
                <a:buChar char="•"/>
              </a:pPr>
              <a:r>
                <a:rPr lang="en-US" b="true" sz="33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RISKS OF URLS AND QR CODES: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84421" y="4541314"/>
              <a:ext cx="18137085" cy="5531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Phishing attacks are increasing rapi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ly and t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</a:t>
              </a: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rs through malicious URLs and QR codes.</a:t>
              </a:r>
            </a:p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These attacks can lead to:</a:t>
              </a:r>
            </a:p>
            <a:p>
              <a:pPr algn="l" marL="1338572" indent="-446191" lvl="2">
                <a:lnSpc>
                  <a:spcPts val="433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🔓 Data theft</a:t>
              </a:r>
            </a:p>
            <a:p>
              <a:pPr algn="l" marL="1338572" indent="-446191" lvl="2">
                <a:lnSpc>
                  <a:spcPts val="433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🦠 Malware</a:t>
              </a:r>
            </a:p>
            <a:p>
              <a:pPr algn="l" marL="1338572" indent="-446191" lvl="2">
                <a:lnSpc>
                  <a:spcPts val="433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30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👤 Account compromise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58194" y="1028700"/>
            <a:ext cx="5084248" cy="3411588"/>
            <a:chOff x="0" y="0"/>
            <a:chExt cx="827378" cy="555180"/>
          </a:xfrm>
        </p:grpSpPr>
        <p:sp>
          <p:nvSpPr>
            <p:cNvPr name="Freeform 3" id="3"/>
            <p:cNvSpPr/>
            <p:nvPr/>
          </p:nvSpPr>
          <p:spPr>
            <a:xfrm flipH="false" flipV="false" rot="-59999">
              <a:off x="-4782" y="-7178"/>
              <a:ext cx="836941" cy="569535"/>
            </a:xfrm>
            <a:custGeom>
              <a:avLst/>
              <a:gdLst/>
              <a:ahLst/>
              <a:cxnLst/>
              <a:rect r="r" b="b" t="t" l="l"/>
              <a:pathLst>
                <a:path h="569535" w="836941">
                  <a:moveTo>
                    <a:pt x="9690" y="0"/>
                  </a:moveTo>
                  <a:lnTo>
                    <a:pt x="836942" y="14440"/>
                  </a:lnTo>
                  <a:lnTo>
                    <a:pt x="827252" y="569536"/>
                  </a:lnTo>
                  <a:lnTo>
                    <a:pt x="0" y="555096"/>
                  </a:lnTo>
                  <a:close/>
                </a:path>
              </a:pathLst>
            </a:custGeom>
            <a:blipFill>
              <a:blip r:embed="rId2"/>
              <a:stretch>
                <a:fillRect l="0" t="-6260" r="-12016" b="-341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76904" y="1028700"/>
            <a:ext cx="5529658" cy="3411588"/>
            <a:chOff x="0" y="0"/>
            <a:chExt cx="899861" cy="5551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9861" cy="555180"/>
            </a:xfrm>
            <a:custGeom>
              <a:avLst/>
              <a:gdLst/>
              <a:ahLst/>
              <a:cxnLst/>
              <a:rect r="r" b="b" t="t" l="l"/>
              <a:pathLst>
                <a:path h="555180" w="899861">
                  <a:moveTo>
                    <a:pt x="0" y="0"/>
                  </a:moveTo>
                  <a:lnTo>
                    <a:pt x="899861" y="0"/>
                  </a:lnTo>
                  <a:lnTo>
                    <a:pt x="899861" y="555180"/>
                  </a:lnTo>
                  <a:lnTo>
                    <a:pt x="0" y="555180"/>
                  </a:lnTo>
                  <a:close/>
                </a:path>
              </a:pathLst>
            </a:custGeom>
            <a:blipFill>
              <a:blip r:embed="rId3"/>
              <a:stretch>
                <a:fillRect l="0" t="-10024" r="-14606" b="-13737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-9525"/>
            <a:ext cx="1883754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sz="6750" spc="-13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Understanding User Personas in Cybersecurity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58194" y="4724880"/>
            <a:ext cx="7285806" cy="3781750"/>
            <a:chOff x="0" y="0"/>
            <a:chExt cx="9714408" cy="504233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8537164" cy="838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391"/>
                </a:lnSpc>
                <a:spcBef>
                  <a:spcPct val="0"/>
                </a:spcBef>
              </a:pPr>
              <a:r>
                <a:rPr lang="en-US" b="true" sz="385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👤 </a:t>
              </a:r>
              <a:r>
                <a:rPr lang="en-US" b="true" sz="3851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GENERAL USERS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22782"/>
              <a:ext cx="9714408" cy="3619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75589" indent="-337795" lvl="1">
                <a:lnSpc>
                  <a:spcPts val="4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2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Need a s</a:t>
              </a:r>
              <a:r>
                <a:rPr lang="en-US" sz="312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imple interface</a:t>
              </a:r>
            </a:p>
            <a:p>
              <a:pPr algn="l" marL="675589" indent="-337795" lvl="1">
                <a:lnSpc>
                  <a:spcPts val="4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2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Focus on fast QR/URL scanning</a:t>
              </a:r>
            </a:p>
            <a:p>
              <a:pPr algn="l" marL="675589" indent="-337795" lvl="1">
                <a:lnSpc>
                  <a:spcPts val="4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2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Want clear Safe / Danger result</a:t>
              </a:r>
            </a:p>
            <a:p>
              <a:pPr algn="l" marL="675589" indent="-337795" lvl="1">
                <a:lnSpc>
                  <a:spcPts val="43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2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Prefer minimal technical details</a:t>
              </a:r>
            </a:p>
            <a:p>
              <a:pPr algn="l" marL="0" indent="0" lvl="0">
                <a:lnSpc>
                  <a:spcPts val="43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14898" y="4724880"/>
            <a:ext cx="7733369" cy="4369096"/>
            <a:chOff x="0" y="0"/>
            <a:chExt cx="10311159" cy="58254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128339" cy="644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🛡️</a:t>
              </a:r>
              <a:r>
                <a:rPr lang="en-US" b="true" sz="2999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CYBERSECURITY USERS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93361"/>
              <a:ext cx="10311159" cy="473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71673" indent="-335836" lvl="1">
                <a:lnSpc>
                  <a:spcPts val="4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1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Require d</a:t>
              </a:r>
              <a:r>
                <a:rPr lang="en-US" sz="311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etailed, explainable results</a:t>
              </a:r>
            </a:p>
            <a:p>
              <a:pPr algn="l" marL="671673" indent="-335836" lvl="1">
                <a:lnSpc>
                  <a:spcPts val="4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1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Need confidence scores</a:t>
              </a:r>
            </a:p>
            <a:p>
              <a:pPr algn="l" marL="671673" indent="-335836" lvl="1">
                <a:lnSpc>
                  <a:spcPts val="4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1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Trust threat intelligence (e.g., VirusTotal)</a:t>
              </a:r>
            </a:p>
            <a:p>
              <a:pPr algn="l" marL="671673" indent="-335836" lvl="1">
                <a:lnSpc>
                  <a:spcPts val="43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111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Want technical breakdown of URLs</a:t>
              </a:r>
            </a:p>
            <a:p>
              <a:pPr algn="l" marL="0" indent="0" lvl="0">
                <a:lnSpc>
                  <a:spcPts val="675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2877081" y="8610658"/>
            <a:ext cx="13083380" cy="167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0"/>
              </a:lnSpc>
            </a:pPr>
          </a:p>
          <a:p>
            <a:pPr algn="ctr">
              <a:lnSpc>
                <a:spcPts val="3370"/>
              </a:lnSpc>
            </a:pPr>
            <a:r>
              <a:rPr lang="en-US" sz="24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Different</a:t>
            </a:r>
            <a:r>
              <a:rPr lang="en-US" sz="24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users require different levels of detail, which is why QR Guard combines simplicity with advanced analysis.</a:t>
            </a:r>
          </a:p>
          <a:p>
            <a:pPr algn="ctr">
              <a:lnSpc>
                <a:spcPts val="337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5448300" cy="3581400"/>
            <a:chOff x="0" y="0"/>
            <a:chExt cx="1333267" cy="8764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2"/>
              <a:stretch>
                <a:fillRect l="0" t="-3895" r="-14942" b="-1260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4248150"/>
            <a:ext cx="5448300" cy="3581400"/>
            <a:chOff x="0" y="0"/>
            <a:chExt cx="1333267" cy="876413"/>
          </a:xfrm>
        </p:grpSpPr>
        <p:sp>
          <p:nvSpPr>
            <p:cNvPr name="Freeform 5" id="5"/>
            <p:cNvSpPr/>
            <p:nvPr/>
          </p:nvSpPr>
          <p:spPr>
            <a:xfrm flipH="false" flipV="false" rot="-84000">
              <a:off x="-10507" y="-16157"/>
              <a:ext cx="1354282" cy="908726"/>
            </a:xfrm>
            <a:custGeom>
              <a:avLst/>
              <a:gdLst/>
              <a:ahLst/>
              <a:cxnLst/>
              <a:rect r="r" b="b" t="t" l="l"/>
              <a:pathLst>
                <a:path h="908726" w="1354282">
                  <a:moveTo>
                    <a:pt x="21412" y="0"/>
                  </a:moveTo>
                  <a:lnTo>
                    <a:pt x="1354282" y="32575"/>
                  </a:lnTo>
                  <a:lnTo>
                    <a:pt x="1332869" y="908727"/>
                  </a:lnTo>
                  <a:lnTo>
                    <a:pt x="0" y="876152"/>
                  </a:lnTo>
                  <a:close/>
                </a:path>
              </a:pathLst>
            </a:custGeom>
            <a:blipFill>
              <a:blip r:embed="rId3"/>
              <a:stretch>
                <a:fillRect l="-2132" t="-68" r="-1095" b="-262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4248150"/>
            <a:ext cx="5448300" cy="3581400"/>
            <a:chOff x="0" y="0"/>
            <a:chExt cx="1333267" cy="876413"/>
          </a:xfrm>
        </p:grpSpPr>
        <p:sp>
          <p:nvSpPr>
            <p:cNvPr name="Freeform 7" id="7"/>
            <p:cNvSpPr/>
            <p:nvPr/>
          </p:nvSpPr>
          <p:spPr>
            <a:xfrm flipH="false" flipV="false" rot="6000">
              <a:off x="-764" y="-1163"/>
              <a:ext cx="1334795" cy="878739"/>
            </a:xfrm>
            <a:custGeom>
              <a:avLst/>
              <a:gdLst/>
              <a:ahLst/>
              <a:cxnLst/>
              <a:rect r="r" b="b" t="t" l="l"/>
              <a:pathLst>
                <a:path h="878739" w="1334795">
                  <a:moveTo>
                    <a:pt x="0" y="2327"/>
                  </a:moveTo>
                  <a:lnTo>
                    <a:pt x="1333265" y="0"/>
                  </a:lnTo>
                  <a:lnTo>
                    <a:pt x="1334795" y="876412"/>
                  </a:lnTo>
                  <a:lnTo>
                    <a:pt x="1530" y="878739"/>
                  </a:lnTo>
                  <a:close/>
                </a:path>
              </a:pathLst>
            </a:custGeom>
            <a:blipFill>
              <a:blip r:embed="rId4"/>
              <a:stretch>
                <a:fillRect l="-103" t="-30185" r="-14995" b="-9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625" y="8264423"/>
            <a:ext cx="6186230" cy="1535659"/>
            <a:chOff x="0" y="0"/>
            <a:chExt cx="8248307" cy="204754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7933900" cy="559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70"/>
                </a:lnSpc>
                <a:spcBef>
                  <a:spcPct val="0"/>
                </a:spcBef>
              </a:pPr>
              <a:r>
                <a:rPr lang="en-US" b="true" sz="2621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FAST D</a:t>
              </a:r>
              <a:r>
                <a:rPr lang="en-US" b="true" sz="2621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</a:t>
              </a:r>
              <a:r>
                <a:rPr lang="en-US" b="true" sz="2621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CISION MAKING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64222"/>
              <a:ext cx="8248307" cy="1283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1"/>
                </a:lnSpc>
              </a:pPr>
              <a:r>
                <a:rPr lang="en-US" sz="27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Users demand </a:t>
              </a:r>
              <a:r>
                <a:rPr lang="en-US" b="true" sz="2794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fast scanning</a:t>
              </a:r>
              <a:r>
                <a:rPr lang="en-US" sz="279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for quick results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19850" y="8296593"/>
            <a:ext cx="5753100" cy="1443424"/>
            <a:chOff x="0" y="0"/>
            <a:chExt cx="7670800" cy="19245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70800" cy="551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47"/>
                </a:lnSpc>
                <a:spcBef>
                  <a:spcPct val="0"/>
                </a:spcBef>
              </a:pPr>
              <a:r>
                <a:rPr lang="en-US" b="true" sz="2534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RELIABLE DE</a:t>
              </a:r>
              <a:r>
                <a:rPr lang="en-US" b="true" sz="2534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</a:t>
              </a:r>
              <a:r>
                <a:rPr lang="en-US" b="true" sz="2534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ECTION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55911"/>
              <a:ext cx="7670800" cy="11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64"/>
                </a:lnSpc>
              </a:pPr>
              <a:r>
                <a:rPr lang="en-US" sz="2617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Users desire </a:t>
              </a:r>
              <a:r>
                <a:rPr lang="en-US" b="true" sz="2617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trusted detection</a:t>
              </a:r>
              <a:r>
                <a:rPr lang="en-US" sz="2617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to ensure safety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2950" y="8213377"/>
            <a:ext cx="6115050" cy="1498822"/>
            <a:chOff x="0" y="0"/>
            <a:chExt cx="8153400" cy="199842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8153400" cy="593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71"/>
                </a:lnSpc>
                <a:spcBef>
                  <a:spcPct val="0"/>
                </a:spcBef>
              </a:pPr>
              <a:r>
                <a:rPr lang="en-US" b="true" sz="2693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EXPLAINABILITY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86663"/>
              <a:ext cx="8153400" cy="1211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19"/>
                </a:lnSpc>
              </a:pPr>
              <a:r>
                <a:rPr lang="en-US" sz="26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Users need </a:t>
              </a:r>
              <a:r>
                <a:rPr lang="en-US" b="true" sz="2656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explainable results</a:t>
              </a:r>
              <a:r>
                <a:rPr lang="en-US" sz="26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to understand risks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62316" y="1238305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Key Insights from User Research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428691" y="305663"/>
            <a:ext cx="16977947" cy="8611265"/>
            <a:chOff x="0" y="0"/>
            <a:chExt cx="22637263" cy="1148168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21649574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Proposed Solution:</a:t>
              </a:r>
            </a:p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Hybrid Detection Architecture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33739"/>
              <a:ext cx="21649574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761595"/>
              <a:ext cx="22637263" cy="720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</a:t>
              </a:r>
              <a:r>
                <a:rPr lang="en-US" sz="32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ombining bot</a:t>
              </a:r>
              <a:r>
                <a:rPr lang="en-US" sz="32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 </a:t>
              </a:r>
              <a:r>
                <a:rPr lang="en-US" sz="32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</a:t>
              </a:r>
              <a:r>
                <a:rPr lang="en-US" sz="32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</a:t>
              </a:r>
              <a:r>
                <a:rPr lang="en-US" sz="3299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thods reduces false results and provides more reliable decisions.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51350" y="3956281"/>
            <a:ext cx="4052506" cy="40525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B8C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06856" y="4908720"/>
            <a:ext cx="2741494" cy="161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b="true" sz="3958" spc="-253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QR </a:t>
            </a:r>
          </a:p>
          <a:p>
            <a:pPr algn="ctr">
              <a:lnSpc>
                <a:spcPts val="4275"/>
              </a:lnSpc>
            </a:pPr>
            <a:r>
              <a:rPr lang="en-US" b="true" sz="3958" spc="-253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GUARD</a:t>
            </a:r>
          </a:p>
          <a:p>
            <a:pPr algn="ctr">
              <a:lnSpc>
                <a:spcPts val="4275"/>
              </a:lnSpc>
            </a:pPr>
            <a:r>
              <a:rPr lang="en-US" b="true" sz="3958" spc="-253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ENGINE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501881" y="3956281"/>
            <a:ext cx="4052506" cy="405250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9BC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700103" y="4658921"/>
            <a:ext cx="3506753" cy="278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9"/>
              </a:lnSpc>
            </a:pPr>
            <a:r>
              <a:rPr lang="en-US" b="true" sz="3601" spc="-23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🌐 VIRUSTOTAL</a:t>
            </a:r>
          </a:p>
          <a:p>
            <a:pPr algn="ctr">
              <a:lnSpc>
                <a:spcPts val="3889"/>
              </a:lnSpc>
            </a:pPr>
          </a:p>
          <a:p>
            <a:pPr algn="ctr" marL="583302" indent="-291651" lvl="1">
              <a:lnSpc>
                <a:spcPts val="2917"/>
              </a:lnSpc>
              <a:buFont typeface="Arial"/>
              <a:buChar char="•"/>
            </a:pPr>
            <a:r>
              <a:rPr lang="en-US" b="true" sz="2701" spc="-172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THREAT INTELLIGENCE</a:t>
            </a:r>
          </a:p>
          <a:p>
            <a:pPr algn="ctr" marL="583302" indent="-291651" lvl="1">
              <a:lnSpc>
                <a:spcPts val="2917"/>
              </a:lnSpc>
              <a:buFont typeface="Arial"/>
              <a:buChar char="•"/>
            </a:pPr>
            <a:r>
              <a:rPr lang="en-US" b="true" sz="2701" spc="-172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EXTERNAL VERIFICATION</a:t>
            </a:r>
          </a:p>
          <a:p>
            <a:pPr algn="ctr">
              <a:lnSpc>
                <a:spcPts val="2917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707460" y="3956281"/>
            <a:ext cx="4052506" cy="405250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1CDD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525698" y="4294940"/>
            <a:ext cx="4433788" cy="117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2"/>
              </a:lnSpc>
            </a:pPr>
            <a:r>
              <a:rPr lang="en-US" b="true" sz="4298" spc="-27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🤖</a:t>
            </a:r>
          </a:p>
          <a:p>
            <a:pPr algn="ctr">
              <a:lnSpc>
                <a:spcPts val="4642"/>
              </a:lnSpc>
            </a:pPr>
            <a:r>
              <a:rPr lang="en-US" b="true" sz="4298" spc="-27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ML MODEL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25218" y="6014569"/>
            <a:ext cx="4034748" cy="106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57188" indent="-278594" lvl="1">
              <a:lnSpc>
                <a:spcPts val="278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80" spc="-16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URL</a:t>
            </a:r>
            <a:r>
              <a:rPr lang="en-US" b="true" sz="2580" spc="-16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CLASSIFICATION</a:t>
            </a:r>
          </a:p>
          <a:p>
            <a:pPr algn="ctr" marL="557188" indent="-278594" lvl="1">
              <a:lnSpc>
                <a:spcPts val="278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80" spc="-16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FAST PREDICTION</a:t>
            </a:r>
          </a:p>
          <a:p>
            <a:pPr algn="ctr">
              <a:lnSpc>
                <a:spcPts val="27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4010025" cy="2686050"/>
            <a:chOff x="0" y="0"/>
            <a:chExt cx="1029283" cy="689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283" cy="689449"/>
            </a:xfrm>
            <a:custGeom>
              <a:avLst/>
              <a:gdLst/>
              <a:ahLst/>
              <a:cxnLst/>
              <a:rect r="r" b="b" t="t" l="l"/>
              <a:pathLst>
                <a:path h="689449" w="1029283">
                  <a:moveTo>
                    <a:pt x="0" y="0"/>
                  </a:moveTo>
                  <a:lnTo>
                    <a:pt x="1029283" y="0"/>
                  </a:lnTo>
                  <a:lnTo>
                    <a:pt x="1029283" y="689449"/>
                  </a:lnTo>
                  <a:lnTo>
                    <a:pt x="0" y="689449"/>
                  </a:lnTo>
                  <a:close/>
                </a:path>
              </a:pathLst>
            </a:custGeom>
            <a:blipFill>
              <a:blip r:embed="rId2"/>
              <a:stretch>
                <a:fillRect l="-1010" t="-18667" r="0" b="-1441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5143500"/>
            <a:ext cx="4010025" cy="2685025"/>
            <a:chOff x="0" y="0"/>
            <a:chExt cx="1029283" cy="689186"/>
          </a:xfrm>
        </p:grpSpPr>
        <p:sp>
          <p:nvSpPr>
            <p:cNvPr name="Freeform 5" id="5"/>
            <p:cNvSpPr/>
            <p:nvPr/>
          </p:nvSpPr>
          <p:spPr>
            <a:xfrm flipH="false" flipV="false" rot="72000">
              <a:off x="-7104" y="-10702"/>
              <a:ext cx="1043491" cy="710590"/>
            </a:xfrm>
            <a:custGeom>
              <a:avLst/>
              <a:gdLst/>
              <a:ahLst/>
              <a:cxnLst/>
              <a:rect r="r" b="b" t="t" l="l"/>
              <a:pathLst>
                <a:path h="710590" w="1043491">
                  <a:moveTo>
                    <a:pt x="0" y="21555"/>
                  </a:moveTo>
                  <a:lnTo>
                    <a:pt x="1029058" y="0"/>
                  </a:lnTo>
                  <a:lnTo>
                    <a:pt x="1043491" y="689034"/>
                  </a:lnTo>
                  <a:lnTo>
                    <a:pt x="14433" y="710590"/>
                  </a:lnTo>
                  <a:close/>
                </a:path>
              </a:pathLst>
            </a:custGeom>
            <a:blipFill>
              <a:blip r:embed="rId3"/>
              <a:stretch>
                <a:fillRect l="-4027" t="-5745" r="-896" b="-18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611225" y="666750"/>
            <a:ext cx="4010025" cy="2686050"/>
            <a:chOff x="0" y="0"/>
            <a:chExt cx="1029283" cy="6894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283" cy="689449"/>
            </a:xfrm>
            <a:custGeom>
              <a:avLst/>
              <a:gdLst/>
              <a:ahLst/>
              <a:cxnLst/>
              <a:rect r="r" b="b" t="t" l="l"/>
              <a:pathLst>
                <a:path h="689449" w="1029283">
                  <a:moveTo>
                    <a:pt x="0" y="0"/>
                  </a:moveTo>
                  <a:lnTo>
                    <a:pt x="1029283" y="0"/>
                  </a:lnTo>
                  <a:lnTo>
                    <a:pt x="1029283" y="689449"/>
                  </a:lnTo>
                  <a:lnTo>
                    <a:pt x="0" y="689449"/>
                  </a:lnTo>
                  <a:close/>
                </a:path>
              </a:pathLst>
            </a:custGeom>
            <a:blipFill>
              <a:blip r:embed="rId4"/>
              <a:stretch>
                <a:fillRect l="0" t="-978" r="-1489" b="3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5142071"/>
            <a:ext cx="4010025" cy="2686454"/>
            <a:chOff x="0" y="0"/>
            <a:chExt cx="1029283" cy="689552"/>
          </a:xfrm>
        </p:grpSpPr>
        <p:sp>
          <p:nvSpPr>
            <p:cNvPr name="Freeform 9" id="9"/>
            <p:cNvSpPr/>
            <p:nvPr/>
          </p:nvSpPr>
          <p:spPr>
            <a:xfrm flipH="false" flipV="false" rot="18000">
              <a:off x="-1798" y="-2690"/>
              <a:ext cx="1032880" cy="694932"/>
            </a:xfrm>
            <a:custGeom>
              <a:avLst/>
              <a:gdLst/>
              <a:ahLst/>
              <a:cxnLst/>
              <a:rect r="r" b="b" t="t" l="l"/>
              <a:pathLst>
                <a:path h="694932" w="1032880">
                  <a:moveTo>
                    <a:pt x="0" y="5389"/>
                  </a:moveTo>
                  <a:lnTo>
                    <a:pt x="1029269" y="0"/>
                  </a:lnTo>
                  <a:lnTo>
                    <a:pt x="1032880" y="689543"/>
                  </a:lnTo>
                  <a:lnTo>
                    <a:pt x="3610" y="694932"/>
                  </a:lnTo>
                  <a:close/>
                </a:path>
              </a:pathLst>
            </a:custGeom>
            <a:blipFill>
              <a:blip r:embed="rId5"/>
              <a:stretch>
                <a:fillRect l="-10639" t="-6375" r="-236" b="-341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212471" y="3502012"/>
            <a:ext cx="4177883" cy="1511618"/>
            <a:chOff x="0" y="0"/>
            <a:chExt cx="5570511" cy="201549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3467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CLASSIFICATION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702" y="503202"/>
              <a:ext cx="5553809" cy="15122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63"/>
                </a:lnSpc>
              </a:pPr>
              <a:r>
                <a:rPr lang="en-US" b="true" sz="2188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AI-driven analysis of URLs and QR codes to detect malicious content.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11225" y="3502012"/>
            <a:ext cx="4419615" cy="1492277"/>
            <a:chOff x="0" y="0"/>
            <a:chExt cx="5892820" cy="198970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47625"/>
              <a:ext cx="5346700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CONFIDENCE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702" y="513429"/>
              <a:ext cx="5876118" cy="1476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8"/>
                </a:lnSpc>
              </a:pPr>
              <a:r>
                <a:rPr lang="en-US" sz="212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Provides a probability score indicating how certain the model is about its prediction.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96400" y="8147970"/>
            <a:ext cx="4093954" cy="1543255"/>
            <a:chOff x="0" y="0"/>
            <a:chExt cx="5458606" cy="2057674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5458606" cy="535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0"/>
                </a:lnSpc>
                <a:spcBef>
                  <a:spcPct val="0"/>
                </a:spcBef>
              </a:pPr>
              <a:r>
                <a:rPr lang="en-US" b="true" sz="2450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EXPLANATION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7052" y="565658"/>
              <a:ext cx="5441554" cy="1492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1"/>
                </a:lnSpc>
              </a:pPr>
              <a:r>
                <a:rPr lang="en-US" sz="214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Exp</a:t>
              </a:r>
              <a:r>
                <a:rPr lang="en-US" sz="214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lains why a URL i</a:t>
              </a:r>
              <a:r>
                <a:rPr lang="en-US" sz="214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</a:t>
              </a:r>
              <a:r>
                <a:rPr lang="en-US" sz="214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f</a:t>
              </a:r>
              <a:r>
                <a:rPr lang="en-US" sz="214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</a:t>
              </a:r>
              <a:r>
                <a:rPr lang="en-US" sz="2143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agged for better user understanding and trust.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11225" y="8147970"/>
            <a:ext cx="4419615" cy="1256598"/>
            <a:chOff x="0" y="0"/>
            <a:chExt cx="5892820" cy="1675464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5892820" cy="583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3"/>
                </a:lnSpc>
                <a:spcBef>
                  <a:spcPct val="0"/>
                </a:spcBef>
              </a:pPr>
              <a:r>
                <a:rPr lang="en-US" b="true" sz="2645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SPEED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408" y="614442"/>
              <a:ext cx="5874412" cy="1061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0"/>
                </a:lnSpc>
              </a:pPr>
              <a:r>
                <a:rPr lang="en-US" sz="231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Ens</a:t>
              </a:r>
              <a:r>
                <a:rPr lang="en-US" sz="231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ures fast scanning for instant security decisions.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8089" y="657225"/>
            <a:ext cx="688523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</a:pPr>
            <a:r>
              <a:rPr lang="en-US" sz="7000" spc="-14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K</a:t>
            </a:r>
            <a:r>
              <a:rPr lang="en-US" sz="7000" spc="-14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ey Capabilities of QR Guard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0768" y="275688"/>
            <a:ext cx="9431298" cy="4276083"/>
            <a:chOff x="0" y="0"/>
            <a:chExt cx="12575064" cy="57014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146416"/>
              <a:ext cx="12575064" cy="25550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27"/>
                </a:lnSpc>
                <a:spcBef>
                  <a:spcPct val="0"/>
                </a:spcBef>
              </a:pPr>
              <a:r>
                <a:rPr lang="en-US" sz="373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🔄 St</a:t>
              </a:r>
              <a:r>
                <a:rPr lang="en-US" sz="373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eps of the Detection Process:</a:t>
              </a:r>
            </a:p>
            <a:p>
              <a:pPr algn="l">
                <a:lnSpc>
                  <a:spcPts val="522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5227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1389836" cy="2244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66"/>
                </a:lnSpc>
              </a:pPr>
              <a:r>
                <a:rPr lang="en-US" sz="5555" spc="-111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QR Guard D</a:t>
              </a:r>
              <a:r>
                <a:rPr lang="en-US" sz="5555" spc="-111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etection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1293" y="4151421"/>
            <a:ext cx="2984999" cy="2498547"/>
            <a:chOff x="0" y="0"/>
            <a:chExt cx="1479844" cy="12386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50429" y="0"/>
                  </a:moveTo>
                  <a:lnTo>
                    <a:pt x="1329415" y="0"/>
                  </a:lnTo>
                  <a:cubicBezTo>
                    <a:pt x="1369311" y="0"/>
                    <a:pt x="1407574" y="15849"/>
                    <a:pt x="1435785" y="44060"/>
                  </a:cubicBezTo>
                  <a:cubicBezTo>
                    <a:pt x="1463996" y="72271"/>
                    <a:pt x="1479844" y="110533"/>
                    <a:pt x="1479844" y="150429"/>
                  </a:cubicBezTo>
                  <a:lnTo>
                    <a:pt x="1479844" y="1088252"/>
                  </a:lnTo>
                  <a:cubicBezTo>
                    <a:pt x="1479844" y="1128148"/>
                    <a:pt x="1463996" y="1166410"/>
                    <a:pt x="1435785" y="1194621"/>
                  </a:cubicBezTo>
                  <a:cubicBezTo>
                    <a:pt x="1407574" y="1222832"/>
                    <a:pt x="1369311" y="1238681"/>
                    <a:pt x="1329415" y="1238681"/>
                  </a:cubicBezTo>
                  <a:lnTo>
                    <a:pt x="150429" y="1238681"/>
                  </a:lnTo>
                  <a:cubicBezTo>
                    <a:pt x="110533" y="1238681"/>
                    <a:pt x="72271" y="1222832"/>
                    <a:pt x="44060" y="1194621"/>
                  </a:cubicBezTo>
                  <a:cubicBezTo>
                    <a:pt x="15849" y="1166410"/>
                    <a:pt x="0" y="1128148"/>
                    <a:pt x="0" y="1088252"/>
                  </a:cubicBezTo>
                  <a:lnTo>
                    <a:pt x="0" y="150429"/>
                  </a:lnTo>
                  <a:cubicBezTo>
                    <a:pt x="0" y="110533"/>
                    <a:pt x="15849" y="72271"/>
                    <a:pt x="44060" y="44060"/>
                  </a:cubicBezTo>
                  <a:cubicBezTo>
                    <a:pt x="72271" y="15849"/>
                    <a:pt x="110533" y="0"/>
                    <a:pt x="150429" y="0"/>
                  </a:cubicBezTo>
                  <a:close/>
                </a:path>
              </a:pathLst>
            </a:custGeom>
            <a:solidFill>
              <a:srgbClr val="5C9BC3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49815" y="4151421"/>
            <a:ext cx="2984999" cy="2498547"/>
            <a:chOff x="0" y="0"/>
            <a:chExt cx="1479844" cy="12386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50429" y="0"/>
                  </a:moveTo>
                  <a:lnTo>
                    <a:pt x="1329415" y="0"/>
                  </a:lnTo>
                  <a:cubicBezTo>
                    <a:pt x="1369311" y="0"/>
                    <a:pt x="1407574" y="15849"/>
                    <a:pt x="1435785" y="44060"/>
                  </a:cubicBezTo>
                  <a:cubicBezTo>
                    <a:pt x="1463996" y="72271"/>
                    <a:pt x="1479844" y="110533"/>
                    <a:pt x="1479844" y="150429"/>
                  </a:cubicBezTo>
                  <a:lnTo>
                    <a:pt x="1479844" y="1088252"/>
                  </a:lnTo>
                  <a:cubicBezTo>
                    <a:pt x="1479844" y="1128148"/>
                    <a:pt x="1463996" y="1166410"/>
                    <a:pt x="1435785" y="1194621"/>
                  </a:cubicBezTo>
                  <a:cubicBezTo>
                    <a:pt x="1407574" y="1222832"/>
                    <a:pt x="1369311" y="1238681"/>
                    <a:pt x="1329415" y="1238681"/>
                  </a:cubicBezTo>
                  <a:lnTo>
                    <a:pt x="150429" y="1238681"/>
                  </a:lnTo>
                  <a:cubicBezTo>
                    <a:pt x="110533" y="1238681"/>
                    <a:pt x="72271" y="1222832"/>
                    <a:pt x="44060" y="1194621"/>
                  </a:cubicBezTo>
                  <a:cubicBezTo>
                    <a:pt x="15849" y="1166410"/>
                    <a:pt x="0" y="1128148"/>
                    <a:pt x="0" y="1088252"/>
                  </a:cubicBezTo>
                  <a:lnTo>
                    <a:pt x="0" y="150429"/>
                  </a:lnTo>
                  <a:cubicBezTo>
                    <a:pt x="0" y="110533"/>
                    <a:pt x="15849" y="72271"/>
                    <a:pt x="44060" y="44060"/>
                  </a:cubicBezTo>
                  <a:cubicBezTo>
                    <a:pt x="72271" y="15849"/>
                    <a:pt x="110533" y="0"/>
                    <a:pt x="150429" y="0"/>
                  </a:cubicBezTo>
                  <a:close/>
                </a:path>
              </a:pathLst>
            </a:custGeom>
            <a:solidFill>
              <a:srgbClr val="64B8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294936" y="4456010"/>
            <a:ext cx="3305820" cy="160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6"/>
              </a:lnSpc>
            </a:pPr>
            <a:r>
              <a:rPr lang="en-US" sz="3299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  🔗</a:t>
            </a:r>
          </a:p>
          <a:p>
            <a:pPr algn="just" marL="0" indent="0" lvl="0">
              <a:lnSpc>
                <a:spcPts val="4256"/>
              </a:lnSpc>
            </a:pPr>
            <a:r>
              <a:rPr lang="en-US" b="true" sz="3299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  URL </a:t>
            </a:r>
          </a:p>
          <a:p>
            <a:pPr algn="just" marL="0" indent="0" lvl="0">
              <a:lnSpc>
                <a:spcPts val="4256"/>
              </a:lnSpc>
            </a:pPr>
            <a:r>
              <a:rPr lang="en-US" b="true" sz="3299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Extraction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10761" y="4151421"/>
            <a:ext cx="2984999" cy="2498547"/>
            <a:chOff x="0" y="0"/>
            <a:chExt cx="1479844" cy="12386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50429" y="0"/>
                  </a:moveTo>
                  <a:lnTo>
                    <a:pt x="1329415" y="0"/>
                  </a:lnTo>
                  <a:cubicBezTo>
                    <a:pt x="1369311" y="0"/>
                    <a:pt x="1407574" y="15849"/>
                    <a:pt x="1435785" y="44060"/>
                  </a:cubicBezTo>
                  <a:cubicBezTo>
                    <a:pt x="1463996" y="72271"/>
                    <a:pt x="1479844" y="110533"/>
                    <a:pt x="1479844" y="150429"/>
                  </a:cubicBezTo>
                  <a:lnTo>
                    <a:pt x="1479844" y="1088252"/>
                  </a:lnTo>
                  <a:cubicBezTo>
                    <a:pt x="1479844" y="1128148"/>
                    <a:pt x="1463996" y="1166410"/>
                    <a:pt x="1435785" y="1194621"/>
                  </a:cubicBezTo>
                  <a:cubicBezTo>
                    <a:pt x="1407574" y="1222832"/>
                    <a:pt x="1369311" y="1238681"/>
                    <a:pt x="1329415" y="1238681"/>
                  </a:cubicBezTo>
                  <a:lnTo>
                    <a:pt x="150429" y="1238681"/>
                  </a:lnTo>
                  <a:cubicBezTo>
                    <a:pt x="110533" y="1238681"/>
                    <a:pt x="72271" y="1222832"/>
                    <a:pt x="44060" y="1194621"/>
                  </a:cubicBezTo>
                  <a:cubicBezTo>
                    <a:pt x="15849" y="1166410"/>
                    <a:pt x="0" y="1128148"/>
                    <a:pt x="0" y="1088252"/>
                  </a:cubicBezTo>
                  <a:lnTo>
                    <a:pt x="0" y="150429"/>
                  </a:lnTo>
                  <a:cubicBezTo>
                    <a:pt x="0" y="110533"/>
                    <a:pt x="15849" y="72271"/>
                    <a:pt x="44060" y="44060"/>
                  </a:cubicBezTo>
                  <a:cubicBezTo>
                    <a:pt x="72271" y="15849"/>
                    <a:pt x="110533" y="0"/>
                    <a:pt x="150429" y="0"/>
                  </a:cubicBezTo>
                  <a:close/>
                </a:path>
              </a:pathLst>
            </a:custGeom>
            <a:solidFill>
              <a:srgbClr val="91CDD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12151" y="7314409"/>
            <a:ext cx="3124178" cy="2615045"/>
            <a:chOff x="0" y="0"/>
            <a:chExt cx="1479844" cy="12386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43728" y="0"/>
                  </a:moveTo>
                  <a:lnTo>
                    <a:pt x="1336116" y="0"/>
                  </a:lnTo>
                  <a:cubicBezTo>
                    <a:pt x="1374235" y="0"/>
                    <a:pt x="1410793" y="15143"/>
                    <a:pt x="1437747" y="42097"/>
                  </a:cubicBezTo>
                  <a:cubicBezTo>
                    <a:pt x="1464702" y="69051"/>
                    <a:pt x="1479844" y="105609"/>
                    <a:pt x="1479844" y="143728"/>
                  </a:cubicBezTo>
                  <a:lnTo>
                    <a:pt x="1479844" y="1094953"/>
                  </a:lnTo>
                  <a:cubicBezTo>
                    <a:pt x="1479844" y="1133072"/>
                    <a:pt x="1464702" y="1169630"/>
                    <a:pt x="1437747" y="1196584"/>
                  </a:cubicBezTo>
                  <a:cubicBezTo>
                    <a:pt x="1410793" y="1223538"/>
                    <a:pt x="1374235" y="1238681"/>
                    <a:pt x="1336116" y="1238681"/>
                  </a:cubicBezTo>
                  <a:lnTo>
                    <a:pt x="143728" y="1238681"/>
                  </a:lnTo>
                  <a:cubicBezTo>
                    <a:pt x="105609" y="1238681"/>
                    <a:pt x="69051" y="1223538"/>
                    <a:pt x="42097" y="1196584"/>
                  </a:cubicBezTo>
                  <a:cubicBezTo>
                    <a:pt x="15143" y="1169630"/>
                    <a:pt x="0" y="1133072"/>
                    <a:pt x="0" y="1094953"/>
                  </a:cubicBezTo>
                  <a:lnTo>
                    <a:pt x="0" y="143728"/>
                  </a:lnTo>
                  <a:cubicBezTo>
                    <a:pt x="0" y="105609"/>
                    <a:pt x="15143" y="69051"/>
                    <a:pt x="42097" y="42097"/>
                  </a:cubicBezTo>
                  <a:cubicBezTo>
                    <a:pt x="69051" y="15143"/>
                    <a:pt x="105609" y="0"/>
                    <a:pt x="143728" y="0"/>
                  </a:cubicBezTo>
                  <a:close/>
                </a:path>
              </a:pathLst>
            </a:custGeom>
            <a:solidFill>
              <a:srgbClr val="5C9BC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1932" y="7314409"/>
            <a:ext cx="3124178" cy="2615045"/>
            <a:chOff x="0" y="0"/>
            <a:chExt cx="1479844" cy="12386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43728" y="0"/>
                  </a:moveTo>
                  <a:lnTo>
                    <a:pt x="1336116" y="0"/>
                  </a:lnTo>
                  <a:cubicBezTo>
                    <a:pt x="1374235" y="0"/>
                    <a:pt x="1410793" y="15143"/>
                    <a:pt x="1437747" y="42097"/>
                  </a:cubicBezTo>
                  <a:cubicBezTo>
                    <a:pt x="1464702" y="69051"/>
                    <a:pt x="1479844" y="105609"/>
                    <a:pt x="1479844" y="143728"/>
                  </a:cubicBezTo>
                  <a:lnTo>
                    <a:pt x="1479844" y="1094953"/>
                  </a:lnTo>
                  <a:cubicBezTo>
                    <a:pt x="1479844" y="1133072"/>
                    <a:pt x="1464702" y="1169630"/>
                    <a:pt x="1437747" y="1196584"/>
                  </a:cubicBezTo>
                  <a:cubicBezTo>
                    <a:pt x="1410793" y="1223538"/>
                    <a:pt x="1374235" y="1238681"/>
                    <a:pt x="1336116" y="1238681"/>
                  </a:cubicBezTo>
                  <a:lnTo>
                    <a:pt x="143728" y="1238681"/>
                  </a:lnTo>
                  <a:cubicBezTo>
                    <a:pt x="105609" y="1238681"/>
                    <a:pt x="69051" y="1223538"/>
                    <a:pt x="42097" y="1196584"/>
                  </a:cubicBezTo>
                  <a:cubicBezTo>
                    <a:pt x="15143" y="1169630"/>
                    <a:pt x="0" y="1133072"/>
                    <a:pt x="0" y="1094953"/>
                  </a:cubicBezTo>
                  <a:lnTo>
                    <a:pt x="0" y="143728"/>
                  </a:lnTo>
                  <a:cubicBezTo>
                    <a:pt x="0" y="105609"/>
                    <a:pt x="15143" y="69051"/>
                    <a:pt x="42097" y="42097"/>
                  </a:cubicBezTo>
                  <a:cubicBezTo>
                    <a:pt x="69051" y="15143"/>
                    <a:pt x="105609" y="0"/>
                    <a:pt x="143728" y="0"/>
                  </a:cubicBezTo>
                  <a:close/>
                </a:path>
              </a:pathLst>
            </a:custGeom>
            <a:solidFill>
              <a:srgbClr val="64B8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054249" y="7314409"/>
            <a:ext cx="3124178" cy="2615045"/>
            <a:chOff x="0" y="0"/>
            <a:chExt cx="1479844" cy="12386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43728" y="0"/>
                  </a:moveTo>
                  <a:lnTo>
                    <a:pt x="1336116" y="0"/>
                  </a:lnTo>
                  <a:cubicBezTo>
                    <a:pt x="1374235" y="0"/>
                    <a:pt x="1410793" y="15143"/>
                    <a:pt x="1437747" y="42097"/>
                  </a:cubicBezTo>
                  <a:cubicBezTo>
                    <a:pt x="1464702" y="69051"/>
                    <a:pt x="1479844" y="105609"/>
                    <a:pt x="1479844" y="143728"/>
                  </a:cubicBezTo>
                  <a:lnTo>
                    <a:pt x="1479844" y="1094953"/>
                  </a:lnTo>
                  <a:cubicBezTo>
                    <a:pt x="1479844" y="1133072"/>
                    <a:pt x="1464702" y="1169630"/>
                    <a:pt x="1437747" y="1196584"/>
                  </a:cubicBezTo>
                  <a:cubicBezTo>
                    <a:pt x="1410793" y="1223538"/>
                    <a:pt x="1374235" y="1238681"/>
                    <a:pt x="1336116" y="1238681"/>
                  </a:cubicBezTo>
                  <a:lnTo>
                    <a:pt x="143728" y="1238681"/>
                  </a:lnTo>
                  <a:cubicBezTo>
                    <a:pt x="105609" y="1238681"/>
                    <a:pt x="69051" y="1223538"/>
                    <a:pt x="42097" y="1196584"/>
                  </a:cubicBezTo>
                  <a:cubicBezTo>
                    <a:pt x="15143" y="1169630"/>
                    <a:pt x="0" y="1133072"/>
                    <a:pt x="0" y="1094953"/>
                  </a:cubicBezTo>
                  <a:lnTo>
                    <a:pt x="0" y="143728"/>
                  </a:lnTo>
                  <a:cubicBezTo>
                    <a:pt x="0" y="105609"/>
                    <a:pt x="15143" y="69051"/>
                    <a:pt x="42097" y="42097"/>
                  </a:cubicBezTo>
                  <a:cubicBezTo>
                    <a:pt x="69051" y="15143"/>
                    <a:pt x="105609" y="0"/>
                    <a:pt x="143728" y="0"/>
                  </a:cubicBezTo>
                  <a:close/>
                </a:path>
              </a:pathLst>
            </a:custGeom>
            <a:solidFill>
              <a:srgbClr val="91CDDB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388322" y="5511600"/>
            <a:ext cx="1575938" cy="567338"/>
          </a:xfrm>
          <a:custGeom>
            <a:avLst/>
            <a:gdLst/>
            <a:ahLst/>
            <a:cxnLst/>
            <a:rect r="r" b="b" t="t" l="l"/>
            <a:pathLst>
              <a:path h="567338" w="1575938">
                <a:moveTo>
                  <a:pt x="0" y="0"/>
                </a:moveTo>
                <a:lnTo>
                  <a:pt x="1575938" y="0"/>
                </a:lnTo>
                <a:lnTo>
                  <a:pt x="1575938" y="567338"/>
                </a:lnTo>
                <a:lnTo>
                  <a:pt x="0" y="567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155810" y="7692628"/>
            <a:ext cx="2436861" cy="173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83"/>
              </a:lnSpc>
            </a:pPr>
            <a:r>
              <a:rPr lang="en-US" sz="3320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     🤖</a:t>
            </a:r>
          </a:p>
          <a:p>
            <a:pPr algn="just" marL="0" indent="0" lvl="0">
              <a:lnSpc>
                <a:spcPts val="4799"/>
              </a:lnSpc>
            </a:pPr>
            <a:r>
              <a:rPr lang="en-US" b="true" sz="372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M</a:t>
            </a:r>
            <a:r>
              <a:rPr lang="en-US" b="true" sz="3720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L Model 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13978" y="7595189"/>
            <a:ext cx="3256087" cy="192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73"/>
              </a:lnSpc>
            </a:pPr>
            <a:r>
              <a:rPr lang="en-US" b="true" sz="401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      🛡️</a:t>
            </a:r>
            <a:r>
              <a:rPr lang="en-US" b="true" sz="4010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</a:t>
            </a:r>
          </a:p>
          <a:p>
            <a:pPr algn="just" marL="0" indent="0" lvl="0">
              <a:lnSpc>
                <a:spcPts val="5173"/>
              </a:lnSpc>
            </a:pPr>
            <a:r>
              <a:rPr lang="en-US" b="true" sz="4010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VirusTotal Verification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049725" y="8621932"/>
            <a:ext cx="1177457" cy="423884"/>
          </a:xfrm>
          <a:custGeom>
            <a:avLst/>
            <a:gdLst/>
            <a:ahLst/>
            <a:cxnLst/>
            <a:rect r="r" b="b" t="t" l="l"/>
            <a:pathLst>
              <a:path h="423884" w="1177457">
                <a:moveTo>
                  <a:pt x="0" y="0"/>
                </a:moveTo>
                <a:lnTo>
                  <a:pt x="1177457" y="0"/>
                </a:lnTo>
                <a:lnTo>
                  <a:pt x="1177457" y="423884"/>
                </a:lnTo>
                <a:lnTo>
                  <a:pt x="0" y="423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160330" y="9180379"/>
            <a:ext cx="1353648" cy="487313"/>
          </a:xfrm>
          <a:custGeom>
            <a:avLst/>
            <a:gdLst/>
            <a:ahLst/>
            <a:cxnLst/>
            <a:rect r="r" b="b" t="t" l="l"/>
            <a:pathLst>
              <a:path h="487313" w="1353648">
                <a:moveTo>
                  <a:pt x="0" y="0"/>
                </a:moveTo>
                <a:lnTo>
                  <a:pt x="1353648" y="0"/>
                </a:lnTo>
                <a:lnTo>
                  <a:pt x="1353648" y="487313"/>
                </a:lnTo>
                <a:lnTo>
                  <a:pt x="0" y="48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947846" y="6078938"/>
            <a:ext cx="1468316" cy="528594"/>
          </a:xfrm>
          <a:custGeom>
            <a:avLst/>
            <a:gdLst/>
            <a:ahLst/>
            <a:cxnLst/>
            <a:rect r="r" b="b" t="t" l="l"/>
            <a:pathLst>
              <a:path h="528594" w="1468316">
                <a:moveTo>
                  <a:pt x="0" y="0"/>
                </a:moveTo>
                <a:lnTo>
                  <a:pt x="1468316" y="0"/>
                </a:lnTo>
                <a:lnTo>
                  <a:pt x="1468316" y="528593"/>
                </a:lnTo>
                <a:lnTo>
                  <a:pt x="0" y="528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30768" y="4263541"/>
            <a:ext cx="2706047" cy="204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39"/>
              </a:lnSpc>
            </a:pPr>
            <a:r>
              <a:rPr lang="en-US" b="true" sz="3208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       📷</a:t>
            </a:r>
            <a:r>
              <a:rPr lang="en-US" b="true" sz="3208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</a:t>
            </a:r>
          </a:p>
          <a:p>
            <a:pPr algn="just" marL="0" indent="0" lvl="0">
              <a:lnSpc>
                <a:spcPts val="6156"/>
              </a:lnSpc>
            </a:pPr>
            <a:r>
              <a:rPr lang="en-US" b="true" sz="4772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QR Code Scan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44414" y="4443189"/>
            <a:ext cx="2704608" cy="163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7"/>
              </a:lnSpc>
            </a:pPr>
            <a:r>
              <a:rPr lang="en-US" sz="3401" b="tru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      🌐</a:t>
            </a:r>
          </a:p>
          <a:p>
            <a:pPr algn="just" marL="0" indent="0" lvl="0">
              <a:lnSpc>
                <a:spcPts val="4387"/>
              </a:lnSpc>
            </a:pPr>
            <a:r>
              <a:rPr lang="en-US" b="true" sz="3401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Backend API Request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27182" y="7373493"/>
            <a:ext cx="2778313" cy="217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60"/>
              </a:lnSpc>
            </a:pPr>
            <a:r>
              <a:rPr lang="en-US" b="true" sz="322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        📊</a:t>
            </a:r>
            <a:r>
              <a:rPr lang="en-US" b="true" sz="3224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</a:t>
            </a:r>
          </a:p>
          <a:p>
            <a:pPr algn="just" marL="0" indent="0" lvl="0">
              <a:lnSpc>
                <a:spcPts val="4385"/>
              </a:lnSpc>
            </a:pPr>
            <a:r>
              <a:rPr lang="en-US" b="true" sz="3399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Final  Result (Safe /Dangerous)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5235796">
            <a:off x="9214864" y="6551436"/>
            <a:ext cx="1468316" cy="528594"/>
          </a:xfrm>
          <a:custGeom>
            <a:avLst/>
            <a:gdLst/>
            <a:ahLst/>
            <a:cxnLst/>
            <a:rect r="r" b="b" t="t" l="l"/>
            <a:pathLst>
              <a:path h="528594" w="1468316">
                <a:moveTo>
                  <a:pt x="0" y="0"/>
                </a:moveTo>
                <a:lnTo>
                  <a:pt x="1468315" y="0"/>
                </a:lnTo>
                <a:lnTo>
                  <a:pt x="1468315" y="528594"/>
                </a:lnTo>
                <a:lnTo>
                  <a:pt x="0" y="528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6381" y="8166845"/>
            <a:ext cx="6466262" cy="4240311"/>
          </a:xfrm>
          <a:custGeom>
            <a:avLst/>
            <a:gdLst/>
            <a:ahLst/>
            <a:cxnLst/>
            <a:rect r="r" b="b" t="t" l="l"/>
            <a:pathLst>
              <a:path h="4240311" w="6466262">
                <a:moveTo>
                  <a:pt x="0" y="0"/>
                </a:moveTo>
                <a:lnTo>
                  <a:pt x="6466262" y="0"/>
                </a:lnTo>
                <a:lnTo>
                  <a:pt x="6466262" y="4240310"/>
                </a:lnTo>
                <a:lnTo>
                  <a:pt x="0" y="4240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690268" y="474879"/>
            <a:ext cx="6457486" cy="199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76"/>
              </a:lnSpc>
            </a:pPr>
            <a:r>
              <a:rPr lang="en-US" sz="6563" spc="-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Simple &amp; Fast     </a:t>
            </a:r>
            <a:r>
              <a:rPr lang="en-US" sz="6563" spc="-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User Flow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480559" y="4712781"/>
            <a:ext cx="4346491" cy="3638164"/>
            <a:chOff x="0" y="0"/>
            <a:chExt cx="1479844" cy="1238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03309" y="0"/>
                  </a:moveTo>
                  <a:lnTo>
                    <a:pt x="1376535" y="0"/>
                  </a:lnTo>
                  <a:cubicBezTo>
                    <a:pt x="1433591" y="0"/>
                    <a:pt x="1479844" y="46253"/>
                    <a:pt x="1479844" y="103309"/>
                  </a:cubicBezTo>
                  <a:lnTo>
                    <a:pt x="1479844" y="1135372"/>
                  </a:lnTo>
                  <a:cubicBezTo>
                    <a:pt x="1479844" y="1162771"/>
                    <a:pt x="1468960" y="1189048"/>
                    <a:pt x="1449586" y="1208422"/>
                  </a:cubicBezTo>
                  <a:cubicBezTo>
                    <a:pt x="1430212" y="1227797"/>
                    <a:pt x="1403935" y="1238681"/>
                    <a:pt x="1376535" y="1238681"/>
                  </a:cubicBezTo>
                  <a:lnTo>
                    <a:pt x="103309" y="1238681"/>
                  </a:lnTo>
                  <a:cubicBezTo>
                    <a:pt x="46253" y="1238681"/>
                    <a:pt x="0" y="1192428"/>
                    <a:pt x="0" y="1135372"/>
                  </a:cubicBezTo>
                  <a:lnTo>
                    <a:pt x="0" y="103309"/>
                  </a:lnTo>
                  <a:cubicBezTo>
                    <a:pt x="0" y="46253"/>
                    <a:pt x="46253" y="0"/>
                    <a:pt x="103309" y="0"/>
                  </a:cubicBezTo>
                  <a:close/>
                </a:path>
              </a:pathLst>
            </a:custGeom>
            <a:solidFill>
              <a:srgbClr val="5C9BC3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16554" y="4712781"/>
            <a:ext cx="4346491" cy="3638164"/>
            <a:chOff x="0" y="0"/>
            <a:chExt cx="1479844" cy="12386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03309" y="0"/>
                  </a:moveTo>
                  <a:lnTo>
                    <a:pt x="1376535" y="0"/>
                  </a:lnTo>
                  <a:cubicBezTo>
                    <a:pt x="1433591" y="0"/>
                    <a:pt x="1479844" y="46253"/>
                    <a:pt x="1479844" y="103309"/>
                  </a:cubicBezTo>
                  <a:lnTo>
                    <a:pt x="1479844" y="1135372"/>
                  </a:lnTo>
                  <a:cubicBezTo>
                    <a:pt x="1479844" y="1162771"/>
                    <a:pt x="1468960" y="1189048"/>
                    <a:pt x="1449586" y="1208422"/>
                  </a:cubicBezTo>
                  <a:cubicBezTo>
                    <a:pt x="1430212" y="1227797"/>
                    <a:pt x="1403935" y="1238681"/>
                    <a:pt x="1376535" y="1238681"/>
                  </a:cubicBezTo>
                  <a:lnTo>
                    <a:pt x="103309" y="1238681"/>
                  </a:lnTo>
                  <a:cubicBezTo>
                    <a:pt x="46253" y="1238681"/>
                    <a:pt x="0" y="1192428"/>
                    <a:pt x="0" y="1135372"/>
                  </a:cubicBezTo>
                  <a:lnTo>
                    <a:pt x="0" y="103309"/>
                  </a:lnTo>
                  <a:cubicBezTo>
                    <a:pt x="0" y="46253"/>
                    <a:pt x="46253" y="0"/>
                    <a:pt x="103309" y="0"/>
                  </a:cubicBezTo>
                  <a:close/>
                </a:path>
              </a:pathLst>
            </a:custGeom>
            <a:solidFill>
              <a:srgbClr val="64B8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615625" y="4915553"/>
            <a:ext cx="4346491" cy="79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538"/>
              </a:lnSpc>
            </a:pPr>
            <a:r>
              <a:rPr lang="en-US" b="true" sz="5068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🤖 Analyze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556078" y="4712781"/>
            <a:ext cx="4346491" cy="3638164"/>
            <a:chOff x="0" y="0"/>
            <a:chExt cx="1479844" cy="12386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03309" y="0"/>
                  </a:moveTo>
                  <a:lnTo>
                    <a:pt x="1376535" y="0"/>
                  </a:lnTo>
                  <a:cubicBezTo>
                    <a:pt x="1433591" y="0"/>
                    <a:pt x="1479844" y="46253"/>
                    <a:pt x="1479844" y="103309"/>
                  </a:cubicBezTo>
                  <a:lnTo>
                    <a:pt x="1479844" y="1135372"/>
                  </a:lnTo>
                  <a:cubicBezTo>
                    <a:pt x="1479844" y="1162771"/>
                    <a:pt x="1468960" y="1189048"/>
                    <a:pt x="1449586" y="1208422"/>
                  </a:cubicBezTo>
                  <a:cubicBezTo>
                    <a:pt x="1430212" y="1227797"/>
                    <a:pt x="1403935" y="1238681"/>
                    <a:pt x="1376535" y="1238681"/>
                  </a:cubicBezTo>
                  <a:lnTo>
                    <a:pt x="103309" y="1238681"/>
                  </a:lnTo>
                  <a:cubicBezTo>
                    <a:pt x="46253" y="1238681"/>
                    <a:pt x="0" y="1192428"/>
                    <a:pt x="0" y="1135372"/>
                  </a:cubicBezTo>
                  <a:lnTo>
                    <a:pt x="0" y="103309"/>
                  </a:lnTo>
                  <a:cubicBezTo>
                    <a:pt x="0" y="46253"/>
                    <a:pt x="46253" y="0"/>
                    <a:pt x="103309" y="0"/>
                  </a:cubicBezTo>
                  <a:close/>
                </a:path>
              </a:pathLst>
            </a:custGeom>
            <a:solidFill>
              <a:srgbClr val="91CDD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296798" y="5927562"/>
            <a:ext cx="1318828" cy="474778"/>
          </a:xfrm>
          <a:custGeom>
            <a:avLst/>
            <a:gdLst/>
            <a:ahLst/>
            <a:cxnLst/>
            <a:rect r="r" b="b" t="t" l="l"/>
            <a:pathLst>
              <a:path h="474778" w="1318828">
                <a:moveTo>
                  <a:pt x="0" y="0"/>
                </a:moveTo>
                <a:lnTo>
                  <a:pt x="1318827" y="0"/>
                </a:lnTo>
                <a:lnTo>
                  <a:pt x="1318827" y="474778"/>
                </a:lnTo>
                <a:lnTo>
                  <a:pt x="0" y="47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624414" y="7615755"/>
            <a:ext cx="1523340" cy="548402"/>
          </a:xfrm>
          <a:custGeom>
            <a:avLst/>
            <a:gdLst/>
            <a:ahLst/>
            <a:cxnLst/>
            <a:rect r="r" b="b" t="t" l="l"/>
            <a:pathLst>
              <a:path h="548402" w="1523340">
                <a:moveTo>
                  <a:pt x="0" y="0"/>
                </a:moveTo>
                <a:lnTo>
                  <a:pt x="1523340" y="0"/>
                </a:lnTo>
                <a:lnTo>
                  <a:pt x="1523340" y="548402"/>
                </a:lnTo>
                <a:lnTo>
                  <a:pt x="0" y="548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80559" y="4756510"/>
            <a:ext cx="3940307" cy="109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964"/>
              </a:lnSpc>
            </a:pPr>
            <a:r>
              <a:rPr lang="en-US" b="true" sz="694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📷 </a:t>
            </a:r>
            <a:r>
              <a:rPr lang="en-US" b="true" sz="6949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Scan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23872" y="4825216"/>
            <a:ext cx="3938211" cy="78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389"/>
              </a:lnSpc>
            </a:pPr>
            <a:r>
              <a:rPr lang="en-US" b="true" sz="4952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   📊</a:t>
            </a:r>
            <a:r>
              <a:rPr lang="en-US" b="true" sz="4952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Result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83651" y="6308600"/>
            <a:ext cx="3940307" cy="132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</a:t>
            </a:r>
            <a:r>
              <a:rPr lang="en-US" sz="380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scans the QR code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5625" y="5870412"/>
            <a:ext cx="4247420" cy="220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7"/>
              </a:lnSpc>
            </a:pPr>
            <a:r>
              <a:rPr lang="en-US" sz="31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system</a:t>
            </a:r>
            <a:r>
              <a:rPr lang="en-US" sz="319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extracts and analyzes the URL using AI and VirusTotal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86084" y="5760557"/>
            <a:ext cx="4516485" cy="27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7"/>
              </a:lnSpc>
            </a:pPr>
            <a:r>
              <a:rPr lang="en-US" sz="31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gets</a:t>
            </a:r>
            <a:r>
              <a:rPr lang="en-US" sz="31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 instant result:</a:t>
            </a:r>
          </a:p>
          <a:p>
            <a:pPr algn="ctr">
              <a:lnSpc>
                <a:spcPts val="4457"/>
              </a:lnSpc>
            </a:pPr>
            <a:r>
              <a:rPr lang="en-US" sz="31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Safe</a:t>
            </a:r>
          </a:p>
          <a:p>
            <a:pPr algn="ctr">
              <a:lnSpc>
                <a:spcPts val="4457"/>
              </a:lnSpc>
            </a:pPr>
            <a:r>
              <a:rPr lang="en-US" sz="31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❌ Dangerous</a:t>
            </a:r>
          </a:p>
          <a:p>
            <a:pPr algn="ctr">
              <a:lnSpc>
                <a:spcPts val="445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390186" y="8773966"/>
            <a:ext cx="12163168" cy="56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0"/>
              </a:lnSpc>
            </a:pPr>
            <a:r>
              <a:rPr lang="en-US" sz="33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process is </a:t>
            </a:r>
            <a:r>
              <a:rPr lang="en-US" sz="330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designed to be fast, simple, and user-friendly.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3581400"/>
            <a:chOff x="0" y="0"/>
            <a:chExt cx="1333267" cy="876413"/>
          </a:xfrm>
        </p:grpSpPr>
        <p:sp>
          <p:nvSpPr>
            <p:cNvPr name="Freeform 3" id="3"/>
            <p:cNvSpPr/>
            <p:nvPr/>
          </p:nvSpPr>
          <p:spPr>
            <a:xfrm flipH="false" flipV="false" rot="72000">
              <a:off x="-9031" y="-13865"/>
              <a:ext cx="1351329" cy="904143"/>
            </a:xfrm>
            <a:custGeom>
              <a:avLst/>
              <a:gdLst/>
              <a:ahLst/>
              <a:cxnLst/>
              <a:rect r="r" b="b" t="t" l="l"/>
              <a:pathLst>
                <a:path h="904143" w="1351329">
                  <a:moveTo>
                    <a:pt x="0" y="27922"/>
                  </a:moveTo>
                  <a:lnTo>
                    <a:pt x="1332975" y="0"/>
                  </a:lnTo>
                  <a:lnTo>
                    <a:pt x="1351329" y="876221"/>
                  </a:lnTo>
                  <a:lnTo>
                    <a:pt x="18354" y="904143"/>
                  </a:lnTo>
                  <a:close/>
                </a:path>
              </a:pathLst>
            </a:custGeom>
            <a:blipFill>
              <a:blip r:embed="rId2"/>
              <a:stretch>
                <a:fillRect l="-626" t="-79" r="-1851" b="-1632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3352800"/>
            <a:ext cx="5448300" cy="3581400"/>
            <a:chOff x="0" y="0"/>
            <a:chExt cx="1333267" cy="876413"/>
          </a:xfrm>
        </p:grpSpPr>
        <p:sp>
          <p:nvSpPr>
            <p:cNvPr name="Freeform 5" id="5"/>
            <p:cNvSpPr/>
            <p:nvPr/>
          </p:nvSpPr>
          <p:spPr>
            <a:xfrm flipH="false" flipV="false" rot="-647999">
              <a:off x="-70304" y="-117153"/>
              <a:ext cx="1473875" cy="1110719"/>
            </a:xfrm>
            <a:custGeom>
              <a:avLst/>
              <a:gdLst/>
              <a:ahLst/>
              <a:cxnLst/>
              <a:rect r="r" b="b" t="t" l="l"/>
              <a:pathLst>
                <a:path h="1110719" w="1473875">
                  <a:moveTo>
                    <a:pt x="164224" y="0"/>
                  </a:moveTo>
                  <a:lnTo>
                    <a:pt x="1473875" y="249830"/>
                  </a:lnTo>
                  <a:lnTo>
                    <a:pt x="1309652" y="1110719"/>
                  </a:lnTo>
                  <a:lnTo>
                    <a:pt x="0" y="860890"/>
                  </a:lnTo>
                  <a:close/>
                </a:path>
              </a:pathLst>
            </a:custGeom>
            <a:blipFill>
              <a:blip r:embed="rId3"/>
              <a:stretch>
                <a:fillRect l="-69344" t="-17416" r="-31208" b="-1198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3352800"/>
            <a:ext cx="5448300" cy="3581400"/>
            <a:chOff x="0" y="0"/>
            <a:chExt cx="1333267" cy="876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0" y="0"/>
                  </a:moveTo>
                  <a:lnTo>
                    <a:pt x="1333267" y="0"/>
                  </a:lnTo>
                  <a:lnTo>
                    <a:pt x="1333267" y="876413"/>
                  </a:lnTo>
                  <a:lnTo>
                    <a:pt x="0" y="876413"/>
                  </a:lnTo>
                  <a:close/>
                </a:path>
              </a:pathLst>
            </a:custGeom>
            <a:blipFill>
              <a:blip r:embed="rId4"/>
              <a:stretch>
                <a:fillRect l="-15532" t="-11839" r="-18756" b="-307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484" y="7615579"/>
            <a:ext cx="5987566" cy="1377927"/>
            <a:chOff x="0" y="0"/>
            <a:chExt cx="7983421" cy="183723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7983421" cy="572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  <a:r>
                <a:rPr lang="en-US" b="true" sz="263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🛡️ REDUCED </a:t>
              </a:r>
              <a:r>
                <a:rPr lang="en-US" b="true" sz="2638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PHISHING</a:t>
              </a:r>
              <a:r>
                <a:rPr lang="en-US" b="true" sz="2638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 RISK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78874"/>
              <a:ext cx="7983421" cy="1058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31"/>
                </a:lnSpc>
              </a:pP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elps 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user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vo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 ma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li</a:t>
              </a:r>
              <a:r>
                <a:rPr lang="en-US" sz="2308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cious links and QR-based attacks.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84726" y="7615579"/>
            <a:ext cx="5718548" cy="1315748"/>
            <a:chOff x="0" y="0"/>
            <a:chExt cx="7624730" cy="175433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24730" cy="548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26"/>
                </a:lnSpc>
                <a:spcBef>
                  <a:spcPct val="0"/>
                </a:spcBef>
              </a:pPr>
              <a:r>
                <a:rPr lang="en-US" b="true" sz="2519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📢 INCREASED </a:t>
              </a:r>
              <a:r>
                <a:rPr lang="en-US" b="true" sz="2519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AWARENESS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51142"/>
              <a:ext cx="7624730" cy="1003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5"/>
                </a:lnSpc>
              </a:pP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Educ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ates users 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o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ut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QR code 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eat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</a:t>
              </a:r>
              <a:r>
                <a:rPr lang="en-US" sz="2204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online risks.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74724" y="7615579"/>
            <a:ext cx="5853925" cy="1346787"/>
            <a:chOff x="0" y="0"/>
            <a:chExt cx="7805234" cy="179571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805234" cy="560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10"/>
                </a:lnSpc>
                <a:spcBef>
                  <a:spcPct val="0"/>
                </a:spcBef>
              </a:pPr>
              <a:r>
                <a:rPr lang="en-US" b="true" sz="2578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📊 TRUSTED </a:t>
              </a:r>
              <a:r>
                <a:rPr lang="en-US" b="true" sz="2578" strike="noStrike" u="none">
                  <a:solidFill>
                    <a:srgbClr val="FFFFFF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INSIGHTS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69680"/>
              <a:ext cx="7805234" cy="1026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58"/>
                </a:lnSpc>
              </a:pPr>
              <a:r>
                <a:rPr lang="en-US" sz="22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</a:t>
              </a:r>
              <a:r>
                <a:rPr lang="en-US" sz="22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rovides clea</a:t>
              </a:r>
              <a:r>
                <a:rPr lang="en-US" sz="22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</a:t>
              </a:r>
              <a:r>
                <a:rPr lang="en-US" sz="22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, explainable,</a:t>
              </a:r>
              <a:r>
                <a:rPr lang="en-US" sz="22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and </a:t>
              </a:r>
              <a:r>
                <a:rPr lang="en-US" sz="22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</a:t>
              </a:r>
              <a:r>
                <a:rPr lang="en-US" sz="22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eliable</a:t>
              </a:r>
              <a:r>
                <a:rPr lang="en-US" sz="2256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security results.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73741" y="435475"/>
            <a:ext cx="14077950" cy="211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Impact of QR Guard</a:t>
            </a:r>
          </a:p>
          <a:p>
            <a:pPr algn="l" marL="0" indent="0" lvl="0">
              <a:lnSpc>
                <a:spcPts val="8399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87176">
            <a:off x="3189187" y="-10712043"/>
            <a:ext cx="14136818" cy="12003443"/>
          </a:xfrm>
          <a:custGeom>
            <a:avLst/>
            <a:gdLst/>
            <a:ahLst/>
            <a:cxnLst/>
            <a:rect r="r" b="b" t="t" l="l"/>
            <a:pathLst>
              <a:path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5025" y="1562100"/>
            <a:ext cx="14077950" cy="105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Future Roadmap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491825" y="4009499"/>
            <a:ext cx="4346491" cy="3638164"/>
            <a:chOff x="0" y="0"/>
            <a:chExt cx="1479844" cy="1238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03309" y="0"/>
                  </a:moveTo>
                  <a:lnTo>
                    <a:pt x="1376535" y="0"/>
                  </a:lnTo>
                  <a:cubicBezTo>
                    <a:pt x="1433591" y="0"/>
                    <a:pt x="1479844" y="46253"/>
                    <a:pt x="1479844" y="103309"/>
                  </a:cubicBezTo>
                  <a:lnTo>
                    <a:pt x="1479844" y="1135372"/>
                  </a:lnTo>
                  <a:cubicBezTo>
                    <a:pt x="1479844" y="1162771"/>
                    <a:pt x="1468960" y="1189048"/>
                    <a:pt x="1449586" y="1208422"/>
                  </a:cubicBezTo>
                  <a:cubicBezTo>
                    <a:pt x="1430212" y="1227797"/>
                    <a:pt x="1403935" y="1238681"/>
                    <a:pt x="1376535" y="1238681"/>
                  </a:cubicBezTo>
                  <a:lnTo>
                    <a:pt x="103309" y="1238681"/>
                  </a:lnTo>
                  <a:cubicBezTo>
                    <a:pt x="46253" y="1238681"/>
                    <a:pt x="0" y="1192428"/>
                    <a:pt x="0" y="1135372"/>
                  </a:cubicBezTo>
                  <a:lnTo>
                    <a:pt x="0" y="103309"/>
                  </a:lnTo>
                  <a:cubicBezTo>
                    <a:pt x="0" y="46253"/>
                    <a:pt x="46253" y="0"/>
                    <a:pt x="103309" y="0"/>
                  </a:cubicBezTo>
                  <a:close/>
                </a:path>
              </a:pathLst>
            </a:custGeom>
            <a:solidFill>
              <a:srgbClr val="5C9BC3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27819" y="4009499"/>
            <a:ext cx="4346491" cy="3638164"/>
            <a:chOff x="0" y="0"/>
            <a:chExt cx="1479844" cy="12386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03309" y="0"/>
                  </a:moveTo>
                  <a:lnTo>
                    <a:pt x="1376535" y="0"/>
                  </a:lnTo>
                  <a:cubicBezTo>
                    <a:pt x="1433591" y="0"/>
                    <a:pt x="1479844" y="46253"/>
                    <a:pt x="1479844" y="103309"/>
                  </a:cubicBezTo>
                  <a:lnTo>
                    <a:pt x="1479844" y="1135372"/>
                  </a:lnTo>
                  <a:cubicBezTo>
                    <a:pt x="1479844" y="1162771"/>
                    <a:pt x="1468960" y="1189048"/>
                    <a:pt x="1449586" y="1208422"/>
                  </a:cubicBezTo>
                  <a:cubicBezTo>
                    <a:pt x="1430212" y="1227797"/>
                    <a:pt x="1403935" y="1238681"/>
                    <a:pt x="1376535" y="1238681"/>
                  </a:cubicBezTo>
                  <a:lnTo>
                    <a:pt x="103309" y="1238681"/>
                  </a:lnTo>
                  <a:cubicBezTo>
                    <a:pt x="46253" y="1238681"/>
                    <a:pt x="0" y="1192428"/>
                    <a:pt x="0" y="1135372"/>
                  </a:cubicBezTo>
                  <a:lnTo>
                    <a:pt x="0" y="103309"/>
                  </a:lnTo>
                  <a:cubicBezTo>
                    <a:pt x="0" y="46253"/>
                    <a:pt x="46253" y="0"/>
                    <a:pt x="103309" y="0"/>
                  </a:cubicBezTo>
                  <a:close/>
                </a:path>
              </a:pathLst>
            </a:custGeom>
            <a:solidFill>
              <a:srgbClr val="64B8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771578" y="4131459"/>
            <a:ext cx="3858975" cy="138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67"/>
              </a:lnSpc>
            </a:pPr>
            <a:r>
              <a:rPr lang="en-US" b="true" sz="431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🔄 Real-Time Updates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567343" y="4009499"/>
            <a:ext cx="4346491" cy="3638164"/>
            <a:chOff x="0" y="0"/>
            <a:chExt cx="1479844" cy="12386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9844" cy="1238681"/>
            </a:xfrm>
            <a:custGeom>
              <a:avLst/>
              <a:gdLst/>
              <a:ahLst/>
              <a:cxnLst/>
              <a:rect r="r" b="b" t="t" l="l"/>
              <a:pathLst>
                <a:path h="1238681" w="1479844">
                  <a:moveTo>
                    <a:pt x="103309" y="0"/>
                  </a:moveTo>
                  <a:lnTo>
                    <a:pt x="1376535" y="0"/>
                  </a:lnTo>
                  <a:cubicBezTo>
                    <a:pt x="1433591" y="0"/>
                    <a:pt x="1479844" y="46253"/>
                    <a:pt x="1479844" y="103309"/>
                  </a:cubicBezTo>
                  <a:lnTo>
                    <a:pt x="1479844" y="1135372"/>
                  </a:lnTo>
                  <a:cubicBezTo>
                    <a:pt x="1479844" y="1162771"/>
                    <a:pt x="1468960" y="1189048"/>
                    <a:pt x="1449586" y="1208422"/>
                  </a:cubicBezTo>
                  <a:cubicBezTo>
                    <a:pt x="1430212" y="1227797"/>
                    <a:pt x="1403935" y="1238681"/>
                    <a:pt x="1376535" y="1238681"/>
                  </a:cubicBezTo>
                  <a:lnTo>
                    <a:pt x="103309" y="1238681"/>
                  </a:lnTo>
                  <a:cubicBezTo>
                    <a:pt x="46253" y="1238681"/>
                    <a:pt x="0" y="1192428"/>
                    <a:pt x="0" y="1135372"/>
                  </a:cubicBezTo>
                  <a:lnTo>
                    <a:pt x="0" y="103309"/>
                  </a:lnTo>
                  <a:cubicBezTo>
                    <a:pt x="0" y="46253"/>
                    <a:pt x="46253" y="0"/>
                    <a:pt x="103309" y="0"/>
                  </a:cubicBezTo>
                  <a:close/>
                </a:path>
              </a:pathLst>
            </a:custGeom>
            <a:solidFill>
              <a:srgbClr val="91CDDB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79844" cy="1238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208992" y="6854343"/>
            <a:ext cx="1318828" cy="474778"/>
          </a:xfrm>
          <a:custGeom>
            <a:avLst/>
            <a:gdLst/>
            <a:ahLst/>
            <a:cxnLst/>
            <a:rect r="r" b="b" t="t" l="l"/>
            <a:pathLst>
              <a:path h="474778" w="1318828">
                <a:moveTo>
                  <a:pt x="0" y="0"/>
                </a:moveTo>
                <a:lnTo>
                  <a:pt x="1318827" y="0"/>
                </a:lnTo>
                <a:lnTo>
                  <a:pt x="1318827" y="474778"/>
                </a:lnTo>
                <a:lnTo>
                  <a:pt x="0" y="47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87050" y="4212271"/>
            <a:ext cx="4445445" cy="5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02"/>
              </a:lnSpc>
            </a:pPr>
            <a:r>
              <a:rPr lang="en-US" b="true" sz="318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🌐 Browser Extensio</a:t>
            </a:r>
            <a:r>
              <a:rPr lang="en-US" b="true" sz="3180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41086" y="4131459"/>
            <a:ext cx="3925099" cy="136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</a:pPr>
            <a:r>
              <a:rPr lang="en-US" b="true" sz="2976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🤖 Improved Model Acc</a:t>
            </a:r>
            <a:r>
              <a:rPr lang="en-US" b="true" sz="2976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uracy</a:t>
            </a:r>
          </a:p>
          <a:p>
            <a:pPr algn="just" marL="0" indent="0" lvl="0">
              <a:lnSpc>
                <a:spcPts val="319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387050" y="5185876"/>
            <a:ext cx="4272560" cy="2187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3"/>
              </a:lnSpc>
            </a:pPr>
            <a:r>
              <a:rPr lang="en-US" sz="310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10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 URLs directly while browsing for better security.</a:t>
            </a:r>
          </a:p>
          <a:p>
            <a:pPr algn="ctr">
              <a:lnSpc>
                <a:spcPts val="4353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626890" y="5771431"/>
            <a:ext cx="4003662" cy="155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1"/>
              </a:lnSpc>
            </a:pPr>
            <a:r>
              <a:rPr lang="en-US" sz="300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Continuously update</a:t>
            </a:r>
            <a:r>
              <a:rPr lang="en-US" sz="300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threat intelligence for better detection.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60111" y="5263460"/>
            <a:ext cx="4268835" cy="312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2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Enhance ML performance using larger and more diverse datasets.</a:t>
            </a:r>
          </a:p>
          <a:p>
            <a:pPr algn="ctr">
              <a:lnSpc>
                <a:spcPts val="4177"/>
              </a:lnSpc>
            </a:pPr>
          </a:p>
          <a:p>
            <a:pPr algn="ctr">
              <a:lnSpc>
                <a:spcPts val="4177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422258" y="5143500"/>
            <a:ext cx="1318828" cy="474778"/>
          </a:xfrm>
          <a:custGeom>
            <a:avLst/>
            <a:gdLst/>
            <a:ahLst/>
            <a:cxnLst/>
            <a:rect r="r" b="b" t="t" l="l"/>
            <a:pathLst>
              <a:path h="474778" w="1318828">
                <a:moveTo>
                  <a:pt x="0" y="0"/>
                </a:moveTo>
                <a:lnTo>
                  <a:pt x="1318828" y="0"/>
                </a:lnTo>
                <a:lnTo>
                  <a:pt x="1318828" y="474778"/>
                </a:lnTo>
                <a:lnTo>
                  <a:pt x="0" y="47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290" y="1028700"/>
            <a:ext cx="112014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Conclusion: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921343"/>
            <a:ext cx="13417693" cy="611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8624" indent="-504312" lvl="1">
              <a:lnSpc>
                <a:spcPts val="5606"/>
              </a:lnSpc>
              <a:buFont typeface="Arial"/>
              <a:buChar char="•"/>
            </a:pPr>
            <a:r>
              <a:rPr lang="en-US" sz="4671" spc="-93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QR Guard is an intelligent security solution that helps users detect malicious URLs and QR codes before interacting with them.</a:t>
            </a:r>
          </a:p>
          <a:p>
            <a:pPr algn="l" marL="1008624" indent="-504312" lvl="1">
              <a:lnSpc>
                <a:spcPts val="5606"/>
              </a:lnSpc>
              <a:buFont typeface="Arial"/>
              <a:buChar char="•"/>
            </a:pPr>
            <a:r>
              <a:rPr lang="en-US" sz="4671" spc="-93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By combining Machine Learning with VirusTotal, the system provides:</a:t>
            </a:r>
          </a:p>
          <a:p>
            <a:pPr algn="l" marL="1008624" indent="-504312" lvl="1">
              <a:lnSpc>
                <a:spcPts val="5606"/>
              </a:lnSpc>
              <a:buFont typeface="Arial"/>
              <a:buChar char="•"/>
            </a:pPr>
            <a:r>
              <a:rPr lang="en-US" sz="4671" spc="-93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Fast detection</a:t>
            </a:r>
          </a:p>
          <a:p>
            <a:pPr algn="l" marL="1008624" indent="-504312" lvl="1">
              <a:lnSpc>
                <a:spcPts val="5606"/>
              </a:lnSpc>
              <a:buFont typeface="Arial"/>
              <a:buChar char="•"/>
            </a:pPr>
            <a:r>
              <a:rPr lang="en-US" sz="4671" spc="-93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Trusted results</a:t>
            </a:r>
          </a:p>
          <a:p>
            <a:pPr algn="l" marL="1008624" indent="-504312" lvl="1">
              <a:lnSpc>
                <a:spcPts val="5606"/>
              </a:lnSpc>
              <a:buFont typeface="Arial"/>
              <a:buChar char="•"/>
            </a:pPr>
            <a:r>
              <a:rPr lang="en-US" sz="4671" spc="-93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Clear explanations</a:t>
            </a:r>
          </a:p>
          <a:p>
            <a:pPr algn="l">
              <a:lnSpc>
                <a:spcPts val="344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290" y="1028700"/>
            <a:ext cx="112014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Team members: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921343"/>
            <a:ext cx="11201400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60170" indent="-680085" lvl="1">
              <a:lnSpc>
                <a:spcPts val="7559"/>
              </a:lnSpc>
              <a:buFont typeface="Arial"/>
              <a:buChar char="•"/>
            </a:pPr>
            <a:r>
              <a:rPr lang="en-US" sz="6300" spc="-126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Eman Mohamed Hamed</a:t>
            </a:r>
          </a:p>
          <a:p>
            <a:pPr algn="l" marL="1360170" indent="-680085" lvl="1">
              <a:lnSpc>
                <a:spcPts val="7559"/>
              </a:lnSpc>
              <a:buFont typeface="Arial"/>
              <a:buChar char="•"/>
            </a:pPr>
            <a:r>
              <a:rPr lang="en-US" sz="6300" spc="-126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Basma Mohamed Nagib</a:t>
            </a:r>
          </a:p>
          <a:p>
            <a:pPr algn="l" marL="1360170" indent="-680085" lvl="1">
              <a:lnSpc>
                <a:spcPts val="7559"/>
              </a:lnSpc>
              <a:buFont typeface="Arial"/>
              <a:buChar char="•"/>
            </a:pPr>
            <a:r>
              <a:rPr lang="en-US" sz="6300" spc="-126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Mariam Maher Mohamed</a:t>
            </a:r>
          </a:p>
          <a:p>
            <a:pPr algn="l" marL="1360170" indent="-680085" lvl="1">
              <a:lnSpc>
                <a:spcPts val="7559"/>
              </a:lnSpc>
              <a:buFont typeface="Arial"/>
              <a:buChar char="•"/>
            </a:pPr>
            <a:r>
              <a:rPr lang="en-US" sz="6300" spc="-126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Ahmed Ehab Mahmoud</a:t>
            </a:r>
          </a:p>
          <a:p>
            <a:pPr algn="l" marL="1360170" indent="-680085" lvl="1">
              <a:lnSpc>
                <a:spcPts val="7559"/>
              </a:lnSpc>
              <a:buFont typeface="Arial"/>
              <a:buChar char="•"/>
            </a:pPr>
            <a:r>
              <a:rPr lang="en-US" sz="6300" spc="-126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Hassan Adel Hassan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44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2071" y="4614863"/>
            <a:ext cx="112014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QR Guard – AI-Powered Security</dc:description>
  <dc:identifier>DAHG1s3ubv4</dc:identifier>
  <dcterms:modified xsi:type="dcterms:W3CDTF">2011-08-01T06:04:30Z</dcterms:modified>
  <cp:revision>1</cp:revision>
  <dc:title>Presentation - QR Guard – AI-Powered Security</dc:title>
</cp:coreProperties>
</file>